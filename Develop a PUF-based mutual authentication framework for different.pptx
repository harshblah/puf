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4" r:id="rId9"/>
    <p:sldId id="265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593FE8F-3945-47EA-8997-32D24F3C0E26}">
          <p14:sldIdLst>
            <p14:sldId id="256"/>
            <p14:sldId id="257"/>
            <p14:sldId id="261"/>
            <p14:sldId id="258"/>
            <p14:sldId id="259"/>
            <p14:sldId id="260"/>
            <p14:sldId id="262"/>
            <p14:sldId id="264"/>
            <p14:sldId id="265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2" clrIdx="0">
    <p:extLst>
      <p:ext uri="{19B8F6BF-5375-455C-9EA6-DF929625EA0E}">
        <p15:presenceInfo xmlns:p15="http://schemas.microsoft.com/office/powerpoint/2012/main" userId="DE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24" y="-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5FFB57-3D37-4899-8EFA-0AD0DE173FDD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D95285-7C0D-4D9B-A6CD-FFD80BF32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261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Mention hashing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95285-7C0D-4D9B-A6CD-FFD80BF32A8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2876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shor's</a:t>
            </a:r>
            <a:r>
              <a:rPr lang="en-US" dirty="0" smtClean="0"/>
              <a:t> </a:t>
            </a:r>
            <a:r>
              <a:rPr lang="en-US" dirty="0" err="1" smtClean="0"/>
              <a:t>algo</a:t>
            </a:r>
            <a:r>
              <a:rPr lang="en-US" dirty="0" smtClean="0"/>
              <a:t>, used to break traditional encryption algorithm like RSA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95285-7C0D-4D9B-A6CD-FFD80BF32A8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718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Where does hashing come into the picture in PQC?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95285-7C0D-4D9B-A6CD-FFD80BF32A8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339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95285-7C0D-4D9B-A6CD-FFD80BF32A8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809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765D-C834-4EEF-8075-066CBA06972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4C95C-0544-4A04-A157-2D889107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39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765D-C834-4EEF-8075-066CBA06972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4C95C-0544-4A04-A157-2D889107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61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765D-C834-4EEF-8075-066CBA06972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4C95C-0544-4A04-A157-2D889107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279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765D-C834-4EEF-8075-066CBA06972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4C95C-0544-4A04-A157-2D889107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987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765D-C834-4EEF-8075-066CBA06972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4C95C-0544-4A04-A157-2D889107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514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765D-C834-4EEF-8075-066CBA06972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4C95C-0544-4A04-A157-2D889107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84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765D-C834-4EEF-8075-066CBA06972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4C95C-0544-4A04-A157-2D889107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643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765D-C834-4EEF-8075-066CBA06972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4C95C-0544-4A04-A157-2D889107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638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765D-C834-4EEF-8075-066CBA06972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4C95C-0544-4A04-A157-2D889107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972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765D-C834-4EEF-8075-066CBA06972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4C95C-0544-4A04-A157-2D889107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118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765D-C834-4EEF-8075-066CBA06972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4C95C-0544-4A04-A157-2D889107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359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93765D-C834-4EEF-8075-066CBA06972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F4C95C-0544-4A04-A157-2D889107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131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gpt.com/share/6a3b9c1b-e278-83e8-8ca7-705cef31277d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dpi.com/2673-4591/118/1/61" TargetMode="External"/><Relationship Id="rId5" Type="http://schemas.openxmlformats.org/officeDocument/2006/relationships/hyperlink" Target="https://www.mdpi.com/2673-4591/92/1/23" TargetMode="External"/><Relationship Id="rId4" Type="http://schemas.openxmlformats.org/officeDocument/2006/relationships/hyperlink" Target="https://github.com/itzmeanjan/ml-ke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997527"/>
            <a:ext cx="9144000" cy="235527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</a:rPr>
              <a:t>Develop a PUF-based mutual authentication framework for </a:t>
            </a:r>
            <a:r>
              <a:rPr lang="en-US" sz="3200" dirty="0" smtClean="0">
                <a:latin typeface="Arial" panose="020B0604020202020204" pitchFamily="34" charset="0"/>
              </a:rPr>
              <a:t>FPGA targeting </a:t>
            </a:r>
            <a:r>
              <a:rPr lang="en-US" sz="3200" dirty="0">
                <a:latin typeface="Arial" panose="020B0604020202020204" pitchFamily="34" charset="0"/>
              </a:rPr>
              <a:t>secure data exchange in an AMI-like smart metering </a:t>
            </a:r>
            <a:r>
              <a:rPr lang="en-US" sz="3200" dirty="0" smtClean="0">
                <a:latin typeface="Arial" panose="020B0604020202020204" pitchFamily="34" charset="0"/>
              </a:rPr>
              <a:t>infrastructure </a:t>
            </a:r>
            <a:r>
              <a:rPr lang="en-US" sz="3200" dirty="0">
                <a:latin typeface="Arial" panose="020B0604020202020204" pitchFamily="34" charset="0"/>
              </a:rPr>
              <a:t>and integration of DLMS/COSEM communication </a:t>
            </a:r>
            <a:r>
              <a:rPr lang="en-US" sz="3200" dirty="0" smtClean="0">
                <a:latin typeface="Arial" panose="020B0604020202020204" pitchFamily="34" charset="0"/>
              </a:rPr>
              <a:t>principles</a:t>
            </a:r>
            <a:endParaRPr lang="en-US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8192655" y="4867563"/>
            <a:ext cx="3833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 </a:t>
            </a:r>
            <a:r>
              <a:rPr lang="en-US" dirty="0" err="1" smtClean="0"/>
              <a:t>Harshavardhan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IMT2022515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112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487" y="2918691"/>
            <a:ext cx="3827754" cy="16498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0257"/>
          </a:xfrm>
        </p:spPr>
        <p:txBody>
          <a:bodyPr/>
          <a:lstStyle/>
          <a:p>
            <a:r>
              <a:rPr lang="en-US" dirty="0" smtClean="0"/>
              <a:t>PUF Survey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65381"/>
            <a:ext cx="10515600" cy="5107709"/>
          </a:xfrm>
        </p:spPr>
        <p:txBody>
          <a:bodyPr>
            <a:normAutofit/>
          </a:bodyPr>
          <a:lstStyle/>
          <a:p>
            <a:r>
              <a:rPr lang="en-US" b="1" dirty="0" smtClean="0"/>
              <a:t>SRAM based PUF</a:t>
            </a:r>
          </a:p>
          <a:p>
            <a:pPr marL="457200" lvl="1" indent="0">
              <a:buNone/>
            </a:pPr>
            <a:r>
              <a:rPr lang="en-US" dirty="0" smtClean="0"/>
              <a:t>Exploits </a:t>
            </a:r>
            <a:r>
              <a:rPr lang="en-US" dirty="0"/>
              <a:t>the power-on initialization state of SRAM </a:t>
            </a:r>
            <a:r>
              <a:rPr lang="en-US" dirty="0" smtClean="0"/>
              <a:t>cells.</a:t>
            </a:r>
          </a:p>
          <a:p>
            <a:pPr marL="457200" lvl="1" indent="0">
              <a:buNone/>
            </a:pPr>
            <a:r>
              <a:rPr lang="en-US" dirty="0"/>
              <a:t>I</a:t>
            </a:r>
            <a:r>
              <a:rPr lang="en-US" dirty="0" smtClean="0"/>
              <a:t>nitialization </a:t>
            </a:r>
            <a:r>
              <a:rPr lang="en-US" dirty="0"/>
              <a:t>of each SRAM cell to 0 or 1 depends on </a:t>
            </a:r>
            <a:r>
              <a:rPr lang="en-US" dirty="0" smtClean="0"/>
              <a:t>minor </a:t>
            </a:r>
            <a:r>
              <a:rPr lang="en-US" dirty="0"/>
              <a:t>manufacturing differences, resulting in a </a:t>
            </a:r>
            <a:r>
              <a:rPr lang="en-US" dirty="0" smtClean="0"/>
              <a:t>unique bit pattern.</a:t>
            </a:r>
          </a:p>
          <a:p>
            <a:r>
              <a:rPr lang="en-US" b="1" dirty="0" smtClean="0"/>
              <a:t>Arbiter based PUF</a:t>
            </a:r>
          </a:p>
          <a:p>
            <a:pPr marL="457200" lvl="1" indent="0">
              <a:buNone/>
            </a:pPr>
            <a:r>
              <a:rPr lang="en-US" dirty="0" smtClean="0"/>
              <a:t>Generates </a:t>
            </a:r>
            <a:r>
              <a:rPr lang="en-US" dirty="0"/>
              <a:t>a unique response by transmitting two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signals </a:t>
            </a:r>
            <a:r>
              <a:rPr lang="en-US" dirty="0"/>
              <a:t>along separate paths within the circuit and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determining </a:t>
            </a:r>
            <a:r>
              <a:rPr lang="en-US" dirty="0"/>
              <a:t>which signal arrives first at the destination</a:t>
            </a:r>
            <a:endParaRPr lang="en-US" dirty="0" smtClean="0"/>
          </a:p>
          <a:p>
            <a:r>
              <a:rPr lang="en-US" b="1" dirty="0" smtClean="0"/>
              <a:t>Ring Oscillator PUF</a:t>
            </a:r>
          </a:p>
          <a:p>
            <a:pPr marL="457200" lvl="1" indent="0">
              <a:buNone/>
            </a:pPr>
            <a:r>
              <a:rPr lang="en-US" dirty="0" smtClean="0"/>
              <a:t>Uses </a:t>
            </a:r>
            <a:r>
              <a:rPr lang="en-US" dirty="0"/>
              <a:t>multiple ring oscillators and </a:t>
            </a:r>
            <a:r>
              <a:rPr lang="en-US" dirty="0" smtClean="0"/>
              <a:t>compares </a:t>
            </a:r>
            <a:r>
              <a:rPr lang="en-US" dirty="0"/>
              <a:t>the frequency of each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oscillator </a:t>
            </a:r>
            <a:r>
              <a:rPr lang="en-US" dirty="0"/>
              <a:t>to produce a unique response.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553020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1164" y="865765"/>
            <a:ext cx="3815028" cy="212175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0257"/>
          </a:xfrm>
        </p:spPr>
        <p:txBody>
          <a:bodyPr/>
          <a:lstStyle/>
          <a:p>
            <a:r>
              <a:rPr lang="en-US" dirty="0" smtClean="0"/>
              <a:t>PUF Survey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65382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 smtClean="0"/>
              <a:t>Cross-Coupled XOR gate race condition</a:t>
            </a:r>
          </a:p>
          <a:p>
            <a:pPr marL="457200" lvl="1" indent="0">
              <a:buNone/>
            </a:pPr>
            <a:r>
              <a:rPr lang="en-US" dirty="0"/>
              <a:t>F</a:t>
            </a:r>
            <a:r>
              <a:rPr lang="en-US" dirty="0" smtClean="0"/>
              <a:t>orming </a:t>
            </a:r>
            <a:r>
              <a:rPr lang="en-US" dirty="0"/>
              <a:t>a race condition that is resolved in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hardware </a:t>
            </a:r>
            <a:r>
              <a:rPr lang="en-US" dirty="0"/>
              <a:t>to generate a response bit.</a:t>
            </a:r>
            <a:endParaRPr lang="en-US" dirty="0" smtClean="0"/>
          </a:p>
          <a:p>
            <a:r>
              <a:rPr lang="en-US" b="1" dirty="0" smtClean="0"/>
              <a:t>IO pin based PUF in microcontrollers</a:t>
            </a:r>
          </a:p>
          <a:p>
            <a:pPr marL="457200" lvl="1" indent="0">
              <a:buNone/>
            </a:pPr>
            <a:r>
              <a:rPr lang="en-US" dirty="0" smtClean="0"/>
              <a:t>Exploits </a:t>
            </a:r>
            <a:r>
              <a:rPr lang="en-US" dirty="0"/>
              <a:t>parasitic capacitances of I/O </a:t>
            </a:r>
            <a:r>
              <a:rPr lang="en-US" dirty="0" smtClean="0"/>
              <a:t>pins</a:t>
            </a:r>
          </a:p>
          <a:p>
            <a:pPr marL="457200" lvl="1" indent="0">
              <a:buNone/>
            </a:pPr>
            <a:r>
              <a:rPr lang="en-US" dirty="0" smtClean="0"/>
              <a:t>Exploits pull-up/down </a:t>
            </a:r>
            <a:r>
              <a:rPr lang="en-US" dirty="0"/>
              <a:t>resistors on the </a:t>
            </a:r>
            <a:r>
              <a:rPr lang="en-US" dirty="0" smtClean="0"/>
              <a:t>IO </a:t>
            </a:r>
            <a:r>
              <a:rPr lang="en-US" dirty="0"/>
              <a:t>pins of the ICs</a:t>
            </a:r>
            <a:endParaRPr lang="en-US" dirty="0" smtClean="0"/>
          </a:p>
          <a:p>
            <a:r>
              <a:rPr lang="en-US" b="1" dirty="0" smtClean="0"/>
              <a:t>LED based PUF</a:t>
            </a:r>
          </a:p>
          <a:p>
            <a:pPr marL="457200" lvl="1" indent="0">
              <a:buNone/>
            </a:pPr>
            <a:r>
              <a:rPr lang="en-US" dirty="0"/>
              <a:t>LEDs exhibit unique light patterns at low brightness levels.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Derives </a:t>
            </a:r>
            <a:r>
              <a:rPr lang="en-US" dirty="0"/>
              <a:t>signatures from the light patterns emitted by LEDs</a:t>
            </a:r>
          </a:p>
        </p:txBody>
      </p:sp>
    </p:spTree>
    <p:extLst>
      <p:ext uri="{BB962C8B-B14F-4D97-AF65-F5344CB8AC3E}">
        <p14:creationId xmlns:p14="http://schemas.microsoft.com/office/powerpoint/2010/main" val="3555672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PUF output is used in </a:t>
            </a:r>
            <a:r>
              <a:rPr lang="en-US" dirty="0" err="1" smtClean="0"/>
              <a:t>IDoT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A </a:t>
            </a:r>
            <a:r>
              <a:rPr lang="en-US" dirty="0"/>
              <a:t>Server cannot </a:t>
            </a:r>
            <a:r>
              <a:rPr lang="en-US" dirty="0" smtClean="0"/>
              <a:t>determine</a:t>
            </a:r>
            <a:r>
              <a:rPr lang="en-US" dirty="0"/>
              <a:t> </a:t>
            </a:r>
            <a:r>
              <a:rPr lang="en-US" dirty="0" smtClean="0"/>
              <a:t>if the edge node is a  </a:t>
            </a:r>
            <a:r>
              <a:rPr lang="en-US" dirty="0"/>
              <a:t>genuine </a:t>
            </a:r>
            <a:r>
              <a:rPr lang="en-US" dirty="0" smtClean="0"/>
              <a:t>meter or </a:t>
            </a:r>
            <a:r>
              <a:rPr lang="en-US" dirty="0"/>
              <a:t>a cloned </a:t>
            </a:r>
            <a:r>
              <a:rPr lang="en-US" dirty="0" smtClean="0"/>
              <a:t>device.</a:t>
            </a:r>
          </a:p>
          <a:p>
            <a:r>
              <a:rPr lang="en-US" dirty="0"/>
              <a:t>Each </a:t>
            </a:r>
            <a:r>
              <a:rPr lang="en-US" dirty="0" smtClean="0"/>
              <a:t>node contains </a:t>
            </a:r>
            <a:r>
              <a:rPr lang="en-US" dirty="0"/>
              <a:t>a unique </a:t>
            </a:r>
            <a:r>
              <a:rPr lang="en-US" dirty="0" smtClean="0"/>
              <a:t>PUF that </a:t>
            </a:r>
            <a:r>
              <a:rPr lang="en-US" dirty="0"/>
              <a:t>generates a hardware-rooted identity that cannot be easily cloned</a:t>
            </a:r>
            <a:r>
              <a:rPr lang="en-US" dirty="0" smtClean="0"/>
              <a:t>.</a:t>
            </a:r>
          </a:p>
          <a:p>
            <a:r>
              <a:rPr lang="en-US" dirty="0" smtClean="0"/>
              <a:t>Server stores CRPs of node before </a:t>
            </a:r>
            <a:br>
              <a:rPr lang="en-US" dirty="0" smtClean="0"/>
            </a:br>
            <a:r>
              <a:rPr lang="en-US" dirty="0" smtClean="0"/>
              <a:t>operation.</a:t>
            </a:r>
          </a:p>
          <a:p>
            <a:r>
              <a:rPr lang="en-US" dirty="0" smtClean="0"/>
              <a:t>Server sends challenge </a:t>
            </a:r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en-US" dirty="0"/>
              <a:t>PUF ↓</a:t>
            </a:r>
            <a:r>
              <a:rPr lang="en-US" dirty="0" smtClean="0">
                <a:sym typeface="Wingdings" panose="05000000000000000000" pitchFamily="2" charset="2"/>
              </a:rPr>
              <a:t/>
            </a:r>
            <a:br>
              <a:rPr lang="en-US" dirty="0" smtClean="0">
                <a:sym typeface="Wingdings" panose="05000000000000000000" pitchFamily="2" charset="2"/>
              </a:rPr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</a:t>
            </a:r>
            <a:r>
              <a:rPr lang="en-US" dirty="0" err="1"/>
              <a:t>Auth</a:t>
            </a:r>
            <a:r>
              <a:rPr lang="en-US" dirty="0"/>
              <a:t> (R, Challenge)</a:t>
            </a:r>
            <a:r>
              <a:rPr lang="en-US" dirty="0" smtClean="0"/>
              <a:t> </a:t>
            </a:r>
            <a:r>
              <a:rPr lang="en-US" dirty="0" smtClean="0">
                <a:sym typeface="Wingdings" panose="05000000000000000000" pitchFamily="2" charset="2"/>
              </a:rPr>
              <a:t></a:t>
            </a:r>
            <a:r>
              <a:rPr lang="en-US" dirty="0" smtClean="0"/>
              <a:t>   Response R</a:t>
            </a:r>
          </a:p>
          <a:p>
            <a:r>
              <a:rPr lang="en-US" dirty="0"/>
              <a:t>Meter </a:t>
            </a:r>
            <a:r>
              <a:rPr lang="en-US" dirty="0" smtClean="0"/>
              <a:t>sends relevant data through </a:t>
            </a:r>
            <a:r>
              <a:rPr lang="en-US" dirty="0" err="1"/>
              <a:t>LoRa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539" y="2951196"/>
            <a:ext cx="4154790" cy="3225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390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COSEM/DLMS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DLMS/COSEM is the globally accepted smart metering standard that defines a common communication protocol </a:t>
            </a:r>
            <a:r>
              <a:rPr lang="en-US" sz="2000" dirty="0" smtClean="0"/>
              <a:t>and </a:t>
            </a:r>
            <a:r>
              <a:rPr lang="en-US" sz="2000" dirty="0"/>
              <a:t>data model </a:t>
            </a:r>
            <a:r>
              <a:rPr lang="en-US" sz="2000" dirty="0" smtClean="0"/>
              <a:t>for </a:t>
            </a:r>
            <a:r>
              <a:rPr lang="en-US" sz="2000" dirty="0"/>
              <a:t>secure </a:t>
            </a:r>
            <a:r>
              <a:rPr lang="en-US" sz="2000" dirty="0" smtClean="0"/>
              <a:t>meter info exchange in AMI </a:t>
            </a:r>
            <a:r>
              <a:rPr lang="en-US" sz="2000" dirty="0"/>
              <a:t>systems.</a:t>
            </a:r>
            <a:endParaRPr lang="en-US" sz="2000" b="1" dirty="0" smtClean="0"/>
          </a:p>
          <a:p>
            <a:r>
              <a:rPr lang="en-US" sz="2000" b="1" dirty="0" smtClean="0"/>
              <a:t>DLMS</a:t>
            </a:r>
            <a:r>
              <a:rPr lang="en-US" sz="2000" dirty="0" smtClean="0"/>
              <a:t> -Device </a:t>
            </a:r>
            <a:r>
              <a:rPr lang="en-US" sz="2000" dirty="0"/>
              <a:t>Language Message </a:t>
            </a:r>
            <a:r>
              <a:rPr lang="en-US" sz="2000" dirty="0" smtClean="0"/>
              <a:t>Specification </a:t>
            </a:r>
            <a:br>
              <a:rPr lang="en-US" sz="2000" dirty="0" smtClean="0"/>
            </a:br>
            <a:r>
              <a:rPr lang="en-US" sz="2000" dirty="0" smtClean="0"/>
              <a:t>	Communication </a:t>
            </a:r>
            <a:r>
              <a:rPr lang="en-US" sz="2000" dirty="0"/>
              <a:t>protocol </a:t>
            </a:r>
            <a:r>
              <a:rPr lang="en-US" sz="2000" dirty="0" smtClean="0"/>
              <a:t>for </a:t>
            </a:r>
            <a:r>
              <a:rPr lang="en-US" sz="2000" dirty="0"/>
              <a:t>smart meters</a:t>
            </a:r>
            <a:r>
              <a:rPr lang="en-US" sz="2000" dirty="0" smtClean="0"/>
              <a:t>.</a:t>
            </a:r>
          </a:p>
          <a:p>
            <a:r>
              <a:rPr lang="en-US" sz="2000" b="1" dirty="0"/>
              <a:t>COSEM</a:t>
            </a:r>
            <a:r>
              <a:rPr lang="en-US" sz="2000" dirty="0"/>
              <a:t> </a:t>
            </a:r>
            <a:r>
              <a:rPr lang="en-US" sz="2000" dirty="0" smtClean="0"/>
              <a:t>- Companion </a:t>
            </a:r>
            <a:r>
              <a:rPr lang="en-US" sz="2000" dirty="0"/>
              <a:t>Specification for Energy </a:t>
            </a:r>
            <a:r>
              <a:rPr lang="en-US" sz="2000" dirty="0" smtClean="0"/>
              <a:t>Metering </a:t>
            </a:r>
            <a:br>
              <a:rPr lang="en-US" sz="2000" dirty="0" smtClean="0"/>
            </a:br>
            <a:r>
              <a:rPr lang="en-US" sz="2000" dirty="0" smtClean="0"/>
              <a:t>	Data </a:t>
            </a:r>
            <a:r>
              <a:rPr lang="en-US" sz="2000" dirty="0"/>
              <a:t>model that defines how meter data is organized and accessed</a:t>
            </a:r>
            <a:r>
              <a:rPr lang="en-US" sz="2000" dirty="0" smtClean="0"/>
              <a:t>.</a:t>
            </a:r>
          </a:p>
          <a:p>
            <a:r>
              <a:rPr lang="en-US" sz="2000" dirty="0"/>
              <a:t>Provides a common format for exchanging meter readings and control </a:t>
            </a:r>
            <a:r>
              <a:rPr lang="en-US" sz="2000" dirty="0" smtClean="0"/>
              <a:t>commands, even across different meter manufacturers.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844" y="4422016"/>
            <a:ext cx="8053641" cy="1754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856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4911"/>
          </a:xfrm>
        </p:spPr>
        <p:txBody>
          <a:bodyPr>
            <a:normAutofit/>
          </a:bodyPr>
          <a:lstStyle/>
          <a:p>
            <a:r>
              <a:rPr lang="en-US" sz="3600" dirty="0"/>
              <a:t>Module-Lattice-based Key Encapsulation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03898"/>
            <a:ext cx="4726021" cy="4173065"/>
          </a:xfrm>
        </p:spPr>
        <p:txBody>
          <a:bodyPr>
            <a:normAutofit/>
          </a:bodyPr>
          <a:lstStyle/>
          <a:p>
            <a:r>
              <a:rPr lang="en-US" sz="2600" dirty="0" smtClean="0"/>
              <a:t>ML-KEM is </a:t>
            </a:r>
            <a:r>
              <a:rPr lang="en-US" sz="2600" dirty="0"/>
              <a:t>a NIST-standardized </a:t>
            </a:r>
            <a:r>
              <a:rPr lang="en-US" sz="2600" dirty="0" smtClean="0"/>
              <a:t>PQC algorithm, d</a:t>
            </a:r>
            <a:r>
              <a:rPr lang="en-US" sz="2400" dirty="0" smtClean="0"/>
              <a:t>esigned </a:t>
            </a:r>
            <a:r>
              <a:rPr lang="en-US" sz="2400" dirty="0"/>
              <a:t>to remain secure against both classical and quantum computer attacks</a:t>
            </a:r>
            <a:r>
              <a:rPr lang="en-US" sz="2400" dirty="0" smtClean="0"/>
              <a:t>.</a:t>
            </a:r>
          </a:p>
          <a:p>
            <a:r>
              <a:rPr lang="en-US" sz="2400" dirty="0" err="1" smtClean="0"/>
              <a:t>IoT</a:t>
            </a:r>
            <a:r>
              <a:rPr lang="en-US" sz="2400" dirty="0" smtClean="0"/>
              <a:t> </a:t>
            </a:r>
            <a:r>
              <a:rPr lang="en-US" sz="2400" dirty="0"/>
              <a:t>infrastructures </a:t>
            </a:r>
            <a:r>
              <a:rPr lang="en-US" sz="2400" dirty="0" smtClean="0"/>
              <a:t>in the future must be resistant quantum computer based attacks</a:t>
            </a:r>
          </a:p>
          <a:p>
            <a:r>
              <a:rPr lang="en-US" sz="2400" dirty="0"/>
              <a:t>Enables </a:t>
            </a:r>
            <a:r>
              <a:rPr lang="en-US" sz="2400" dirty="0" smtClean="0"/>
              <a:t>two nodes to share a secret cryptographic </a:t>
            </a:r>
            <a:r>
              <a:rPr lang="en-US" sz="2400" dirty="0"/>
              <a:t>keys over insecure communication channels</a:t>
            </a:r>
            <a:r>
              <a:rPr lang="en-US" sz="2400" dirty="0" smtClean="0"/>
              <a:t>.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727971" y="2003898"/>
            <a:ext cx="4726021" cy="417306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Key Generation </a:t>
            </a:r>
          </a:p>
          <a:p>
            <a:pPr marL="457200" lvl="1" indent="0">
              <a:buNone/>
            </a:pPr>
            <a:r>
              <a:rPr lang="en-US" sz="2000" dirty="0"/>
              <a:t>Server generates a public key (PK) and private key (SK).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Encapsulation</a:t>
            </a:r>
          </a:p>
          <a:p>
            <a:pPr marL="457200" lvl="1" indent="0">
              <a:buNone/>
            </a:pPr>
            <a:r>
              <a:rPr lang="en-US" sz="2000" dirty="0"/>
              <a:t>Smart meter uses the server's public key to generate a shared secret (K), a </a:t>
            </a:r>
            <a:r>
              <a:rPr lang="en-US" sz="2000" dirty="0" err="1"/>
              <a:t>ciphertext</a:t>
            </a:r>
            <a:r>
              <a:rPr lang="en-US" sz="2000" dirty="0"/>
              <a:t> (C) which is sent to the server.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err="1"/>
              <a:t>Decapsulation</a:t>
            </a:r>
            <a:endParaRPr lang="en-US" sz="2400" dirty="0"/>
          </a:p>
          <a:p>
            <a:pPr marL="457200" lvl="1" indent="0">
              <a:buNone/>
            </a:pPr>
            <a:r>
              <a:rPr lang="en-US" sz="2000" dirty="0"/>
              <a:t>Server uses its private key and the received </a:t>
            </a:r>
            <a:r>
              <a:rPr lang="en-US" sz="2000" dirty="0" err="1"/>
              <a:t>ciphertext</a:t>
            </a:r>
            <a:r>
              <a:rPr lang="en-US" sz="2000" dirty="0"/>
              <a:t> to recover the same shared secret K.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Session Key Derivation</a:t>
            </a:r>
          </a:p>
          <a:p>
            <a:pPr marL="457200" lvl="1" indent="0">
              <a:buNone/>
            </a:pPr>
            <a:r>
              <a:rPr lang="en-US" sz="2000" dirty="0"/>
              <a:t>Both parties derive an AES session key from the shared secret.</a:t>
            </a:r>
          </a:p>
          <a:p>
            <a:endParaRPr lang="en-US" sz="24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963038" y="1439694"/>
            <a:ext cx="4387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What it is?</a:t>
            </a:r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5727971" y="1507469"/>
            <a:ext cx="4387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How it works?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77866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PQC </a:t>
            </a:r>
            <a:r>
              <a:rPr lang="en-US" dirty="0"/>
              <a:t>-</a:t>
            </a:r>
            <a:r>
              <a:rPr lang="en-US" dirty="0" smtClean="0"/>
              <a:t> PUF </a:t>
            </a:r>
            <a:r>
              <a:rPr lang="en-US" dirty="0"/>
              <a:t>-</a:t>
            </a:r>
            <a:r>
              <a:rPr lang="en-US" dirty="0" smtClean="0"/>
              <a:t> </a:t>
            </a:r>
            <a:r>
              <a:rPr lang="en-US" dirty="0" err="1" smtClean="0"/>
              <a:t>IoT</a:t>
            </a:r>
            <a:r>
              <a:rPr lang="en-US" dirty="0" smtClean="0"/>
              <a:t> : Relevance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Smart meters communicate sensitive </a:t>
            </a:r>
            <a:r>
              <a:rPr lang="en-US" dirty="0" smtClean="0"/>
              <a:t>data </a:t>
            </a:r>
            <a:br>
              <a:rPr lang="en-US" dirty="0" smtClean="0"/>
            </a:br>
            <a:r>
              <a:rPr lang="en-US" dirty="0" smtClean="0"/>
              <a:t>which is vulnerable </a:t>
            </a:r>
            <a:r>
              <a:rPr lang="en-US" dirty="0"/>
              <a:t>to future quantum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computer </a:t>
            </a:r>
            <a:r>
              <a:rPr lang="en-US" dirty="0"/>
              <a:t>attacks</a:t>
            </a:r>
            <a:r>
              <a:rPr lang="en-US" dirty="0" smtClean="0"/>
              <a:t>.</a:t>
            </a:r>
          </a:p>
          <a:p>
            <a:r>
              <a:rPr lang="en-US" dirty="0" smtClean="0"/>
              <a:t>PUFs can create a unique identity </a:t>
            </a:r>
            <a:br>
              <a:rPr lang="en-US" dirty="0" smtClean="0"/>
            </a:br>
            <a:r>
              <a:rPr lang="en-US" dirty="0" smtClean="0"/>
              <a:t>but IDs </a:t>
            </a:r>
            <a:r>
              <a:rPr lang="en-US" dirty="0"/>
              <a:t>stored in memory can be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extracted </a:t>
            </a:r>
            <a:r>
              <a:rPr lang="en-US" dirty="0"/>
              <a:t>through physical </a:t>
            </a:r>
            <a:r>
              <a:rPr lang="en-US" dirty="0" smtClean="0"/>
              <a:t>attacks.</a:t>
            </a:r>
          </a:p>
          <a:p>
            <a:r>
              <a:rPr lang="en-US" dirty="0"/>
              <a:t>ML-KEM </a:t>
            </a:r>
            <a:r>
              <a:rPr lang="en-US" dirty="0" smtClean="0"/>
              <a:t>: Quantum-safe </a:t>
            </a:r>
            <a:r>
              <a:rPr lang="en-US" dirty="0"/>
              <a:t>key </a:t>
            </a:r>
            <a:r>
              <a:rPr lang="en-US" dirty="0" smtClean="0"/>
              <a:t>exchange.</a:t>
            </a:r>
          </a:p>
          <a:p>
            <a:pPr marL="457200" lvl="1" indent="0">
              <a:buNone/>
            </a:pPr>
            <a:r>
              <a:rPr lang="en-US" dirty="0"/>
              <a:t>Resistant to known quantum attacks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key is used in AES encryption </a:t>
            </a:r>
            <a:br>
              <a:rPr lang="en-US" dirty="0" smtClean="0"/>
            </a:br>
            <a:r>
              <a:rPr lang="en-US" dirty="0" smtClean="0"/>
              <a:t>to send encrypted data over channels.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05" r="12698"/>
          <a:stretch/>
        </p:blipFill>
        <p:spPr>
          <a:xfrm>
            <a:off x="7247106" y="2026579"/>
            <a:ext cx="4620639" cy="3949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435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is </a:t>
            </a:r>
            <a:r>
              <a:rPr lang="en-US" dirty="0" err="1" smtClean="0"/>
              <a:t>puf</a:t>
            </a:r>
            <a:r>
              <a:rPr lang="en-US" dirty="0" smtClean="0"/>
              <a:t> </a:t>
            </a:r>
            <a:r>
              <a:rPr lang="en-US" dirty="0" err="1" smtClean="0"/>
              <a:t>resposne</a:t>
            </a:r>
            <a:r>
              <a:rPr lang="en-US" dirty="0" smtClean="0"/>
              <a:t> related to meter id?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528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Pqc</a:t>
            </a:r>
            <a:r>
              <a:rPr lang="en-US" dirty="0" smtClean="0"/>
              <a:t>-hash-</a:t>
            </a:r>
            <a:r>
              <a:rPr lang="en-US" dirty="0" err="1" smtClean="0"/>
              <a:t>puf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14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3"/>
              </a:rPr>
              <a:t>Research chat</a:t>
            </a:r>
            <a:endParaRPr lang="en-US" dirty="0" smtClean="0"/>
          </a:p>
          <a:p>
            <a:r>
              <a:rPr lang="en-US" dirty="0" smtClean="0">
                <a:hlinkClick r:id="rId4"/>
              </a:rPr>
              <a:t>ML-KEM </a:t>
            </a:r>
            <a:r>
              <a:rPr lang="en-US" dirty="0" err="1" smtClean="0">
                <a:hlinkClick r:id="rId4"/>
              </a:rPr>
              <a:t>github</a:t>
            </a:r>
            <a:endParaRPr lang="en-US" dirty="0" smtClean="0"/>
          </a:p>
          <a:p>
            <a:r>
              <a:rPr lang="en-US" dirty="0" smtClean="0">
                <a:hlinkClick r:id="rId5"/>
              </a:rPr>
              <a:t>The Implementation of the Physical </a:t>
            </a:r>
            <a:r>
              <a:rPr lang="en-US" dirty="0" err="1" smtClean="0">
                <a:hlinkClick r:id="rId5"/>
              </a:rPr>
              <a:t>Unclonable</a:t>
            </a:r>
            <a:r>
              <a:rPr lang="en-US" dirty="0" smtClean="0">
                <a:hlinkClick r:id="rId5"/>
              </a:rPr>
              <a:t> Function in a Field-Programmable Gate Array for Enhancing Hardware Security </a:t>
            </a:r>
            <a:endParaRPr lang="en-US" dirty="0" smtClean="0"/>
          </a:p>
          <a:p>
            <a:r>
              <a:rPr lang="en-US" dirty="0" smtClean="0">
                <a:hlinkClick r:id="rId6"/>
              </a:rPr>
              <a:t>A Secure FPGA-Based </a:t>
            </a:r>
            <a:r>
              <a:rPr lang="en-US" dirty="0" err="1" smtClean="0">
                <a:hlinkClick r:id="rId6"/>
              </a:rPr>
              <a:t>IoT</a:t>
            </a:r>
            <a:r>
              <a:rPr lang="en-US" dirty="0" smtClean="0">
                <a:hlinkClick r:id="rId6"/>
              </a:rPr>
              <a:t> Gateway for Smart Home Automation Using PUF-Based Authentication 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763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</TotalTime>
  <Words>471</Words>
  <Application>Microsoft Office PowerPoint</Application>
  <PresentationFormat>Widescreen</PresentationFormat>
  <Paragraphs>68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Office Theme</vt:lpstr>
      <vt:lpstr>PowerPoint Presentation</vt:lpstr>
      <vt:lpstr>PUF Survey</vt:lpstr>
      <vt:lpstr>PUF Survey</vt:lpstr>
      <vt:lpstr>How PUF output is used in IDoT?</vt:lpstr>
      <vt:lpstr>COSEM/DLMS</vt:lpstr>
      <vt:lpstr>Module-Lattice-based Key Encapsulation Mechanism</vt:lpstr>
      <vt:lpstr>PQC - PUF - IoT : Relevance</vt:lpstr>
      <vt:lpstr>How is puf resposne related to meter id?</vt:lpstr>
      <vt:lpstr>Pqc-hash-puf</vt:lpstr>
      <vt:lpstr>Resources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 a PUF-based mutual authentication framework for different embedded nodes like an FPGA, ESP, and Arduino platform, targeting secure data exchange in an AMI-like smart metering setup and integration of DLMS/COSEM communication principles</dc:title>
  <dc:creator>DELL</dc:creator>
  <cp:lastModifiedBy>DELL</cp:lastModifiedBy>
  <cp:revision>22</cp:revision>
  <dcterms:created xsi:type="dcterms:W3CDTF">2026-06-11T06:56:54Z</dcterms:created>
  <dcterms:modified xsi:type="dcterms:W3CDTF">2026-06-24T10:48:29Z</dcterms:modified>
</cp:coreProperties>
</file>